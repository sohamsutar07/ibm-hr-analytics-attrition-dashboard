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9" r:id="rId9"/>
    <p:sldId id="261" r:id="rId10"/>
    <p:sldId id="270" r:id="rId11"/>
    <p:sldId id="262" r:id="rId12"/>
    <p:sldId id="266" r:id="rId13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165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4389120"/>
            <a:ext cx="8814816" cy="36576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E4DB7">
              <a:alpha val="25000"/>
            </a:srgbClr>
          </a:solidFill>
          <a:ln w="12700">
            <a:solidFill>
              <a:srgbClr val="1E4DB7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-365760"/>
            <a:ext cx="2743200" cy="2743200"/>
          </a:xfrm>
          <a:prstGeom prst="ellipse">
            <a:avLst/>
          </a:prstGeom>
          <a:solidFill>
            <a:srgbClr val="2EC4F3">
              <a:alpha val="20000"/>
            </a:srgbClr>
          </a:solidFill>
          <a:ln w="12700">
            <a:solidFill>
              <a:srgbClr val="2EC4F3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600" dirty="0">
                <a:solidFill>
                  <a:srgbClr val="FFFFFF"/>
                </a:solidFill>
              </a:rPr>
              <a:t>HR ATTRITION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600" dirty="0">
                <a:solidFill>
                  <a:srgbClr val="2EC4F3"/>
                </a:solidFill>
              </a:rPr>
              <a:t>ANALYSIS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743200" y="2651760"/>
            <a:ext cx="3657600" cy="45720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8D4F8"/>
                </a:solidFill>
              </a:rPr>
              <a:t>Understanding &amp; Reducing Employee Turnover Through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401568"/>
            <a:ext cx="14173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3401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5A"/>
                </a:solidFill>
              </a:rPr>
              <a:t>Excel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63240" y="3401568"/>
            <a:ext cx="1417320" cy="475488"/>
          </a:xfrm>
          <a:prstGeom prst="rect">
            <a:avLst/>
          </a:prstGeom>
          <a:solidFill>
            <a:srgbClr val="0EA5D6"/>
          </a:solidFill>
          <a:ln w="12700">
            <a:solidFill>
              <a:srgbClr val="0EA5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63240" y="3401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5A"/>
                </a:solidFill>
              </a:rPr>
              <a:t>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401568"/>
            <a:ext cx="14173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401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5A"/>
                </a:solidFill>
              </a:rPr>
              <a:t>Python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401568"/>
            <a:ext cx="1417320" cy="47548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4015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D5A"/>
                </a:solidFill>
              </a:rPr>
              <a:t>Power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B8D8"/>
                </a:solidFill>
              </a:rPr>
              <a:t>Soham Sutar   |   Data Analyst   |   March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What is HR Analytics &amp; Employee Attrition?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3931920" cy="34747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64008" cy="347472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D5A"/>
                </a:solidFill>
              </a:rPr>
              <a:t>HR Analytics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HR Analytics</a:t>
            </a:r>
            <a:r>
              <a:rPr lang="en-US" sz="1200" dirty="0">
                <a:solidFill>
                  <a:srgbClr val="334155"/>
                </a:solidFill>
              </a:rPr>
              <a:t> (People Analytics) is the use of data-driven methods to improve HR decision-making. It transforms raw employee data into actionable insights.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D5A"/>
                </a:solidFill>
              </a:rPr>
              <a:t>Employee Attrition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Employee attrition is the gradual reduction of workforce due to resignations, retirements, or other departures. High attrition increases costs and disrupts operations.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078992"/>
            <a:ext cx="4389120" cy="162763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78992"/>
            <a:ext cx="64008" cy="16276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D5A"/>
                </a:solidFill>
              </a:rPr>
              <a:t>📊  Dataset Overview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627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B7"/>
                </a:solidFill>
              </a:rPr>
              <a:t>Source: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1627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IBM HR Analytics (Kaggle)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883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B7"/>
                </a:solidFill>
              </a:rPr>
              <a:t>Records: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18836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1,470 Employees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139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B7"/>
                </a:solidFill>
              </a:rPr>
              <a:t>Features: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21396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35 Columns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3957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DB7"/>
                </a:solidFill>
              </a:rPr>
              <a:t>Target: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23957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Attrition (Yes/No)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2834640"/>
            <a:ext cx="4389120" cy="1719072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2834640"/>
            <a:ext cx="64008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626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D5A"/>
                </a:solidFill>
              </a:rPr>
              <a:t>Key Features Analyzed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33649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Age, Department, Job Role, Monthly Income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Years at Company, Job Satisfaction, Work-Life 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OverTime, Business Travel, Education Field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Key Business Questions We Aim to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83464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15568"/>
            <a:ext cx="64008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</a:rPr>
              <a:t>❓  Why are employees leaving?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6642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Identify the primary drivers of attrition — job role, satisfaction, personal factors.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83464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15568"/>
            <a:ext cx="64008" cy="160020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252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</a:rPr>
              <a:t>🏢  Department-wise attrition?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6642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Which departments have the highest turnover and what patterns emerge?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115568"/>
            <a:ext cx="283464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115568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252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</a:rPr>
              <a:t>💰  Salary &amp; income impact?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16642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Does lower monthly income correlate with higher attrition rates?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898648"/>
            <a:ext cx="283464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898648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358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</a:rPr>
              <a:t>⏰  Overtime impact?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34472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Are employees working overtime significantly more likely to leave?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2898648"/>
            <a:ext cx="283464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898648"/>
            <a:ext cx="64008" cy="1600200"/>
          </a:xfrm>
          <a:prstGeom prst="rect">
            <a:avLst/>
          </a:prstGeom>
          <a:solidFill>
            <a:srgbClr val="0EA5D6"/>
          </a:solidFill>
          <a:ln w="12700">
            <a:solidFill>
              <a:srgbClr val="0EA5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0358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</a:rPr>
              <a:t>📅  Age &amp; tenure effect?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01568" y="34472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Do younger or shorter-tenured employees leave more frequently?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2898648"/>
            <a:ext cx="283464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2898648"/>
            <a:ext cx="64008" cy="1600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30358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</a:rPr>
              <a:t>😊  Satisfaction drivers?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64224" y="344728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How do job satisfaction, work-life balance, and environment scores affect retention?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Cleaning Using Excel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Preparing the Dataset for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502920" cy="658368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7899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Remove Duplicates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1399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Used Excel's Remove Duplicates feature to ensure each employee record is unique.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975104"/>
            <a:ext cx="502920" cy="658368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9751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Handle Missing Values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2951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Identified &amp; filled blanks using median imputation for numeric columns; flagged others.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871216"/>
            <a:ext cx="502920" cy="658368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712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7824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Format Columns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31912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Standardized date formats, corrected data types (text vs numeric) across all fields.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3767328"/>
            <a:ext cx="502920" cy="658368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7673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New Columns Created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4087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AgeGroup (bins), IncomeLevel (Low/Mid/High), Attrition_Flag (0/1 binary).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A7C12-EEB5-3A25-01B1-EC263F37F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9864"/>
            <a:ext cx="9144000" cy="423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47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Analysis Using 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Querying the Database for Key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86426"/>
            <a:ext cx="4709160" cy="3401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470916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78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SQL Queries  •  HR_Attrition.sql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4526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Total Employees &amp; Attrition Count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AS Total_Employees,
  SUM(Attrition_Flag) AS Total_Attrition,
  ROUND(SUM(Attrition_Flag)*100.0/COUNT(*),2)
  AS Attrition_Rate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hr_data;
</a:t>
            </a: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Department-wise Attrition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Department, COUNT(*) AS Emp_Count,
  SUM(Attrition_Flag) AS Attrition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hr_data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Attrition DESC;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38928" y="1086426"/>
            <a:ext cx="3639312" cy="2060504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2372" y="1664208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112699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D5A"/>
                </a:solidFill>
              </a:rPr>
              <a:t>Queries Covered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82194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Total employees &amp; attrition 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Department-wise attrition breakdown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Overtime vs. non-overtime comparison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Avg salary by job role &amp; attrition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9D7384-37AE-3176-732E-7D39DA69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7" y="147941"/>
            <a:ext cx="4216408" cy="2128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AA76A7-4A2D-3218-3117-C76B0D2F0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910" y="147941"/>
            <a:ext cx="3993490" cy="23018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FFACD7-CAB7-8DDD-093E-0AAA0D3EA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54" y="2571750"/>
            <a:ext cx="3993491" cy="2391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BEF8A4-ECB2-5320-1FE5-1A61C7A43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638657"/>
            <a:ext cx="3735979" cy="24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6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DC39D5-66FA-1B85-F6FE-B83B3F840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0" y="74341"/>
            <a:ext cx="4163122" cy="4043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0EE105-3691-511F-D9B0-E828D8314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3" y="74341"/>
            <a:ext cx="4697107" cy="344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1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 —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Pandas &amp; Matplotlib for Data Visualization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56032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Libraries Used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Pandas — data wrangling &amp; aggregation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Matplotlib — charts &amp; visualizations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Seaborn — statistical plots &amp; heatmaps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2606040"/>
            <a:ext cx="2560320" cy="14173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606040"/>
            <a:ext cx="64008" cy="1417320"/>
          </a:xfrm>
          <a:prstGeom prst="rect">
            <a:avLst/>
          </a:prstGeom>
          <a:solidFill>
            <a:srgbClr val="0EA5D6"/>
          </a:solidFill>
          <a:ln w="12700">
            <a:solidFill>
              <a:srgbClr val="0EA5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EDA 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Data shape, dtypes, describe()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Attrition rate calculation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Univariate &amp; bivariate analysis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Correlation heatmap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31236" y="1842516"/>
            <a:ext cx="2743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154680" y="1801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overtime vs attrition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7900" y="1842516"/>
            <a:ext cx="2743200" cy="347472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82355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Dept-wise Attrition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2953512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953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Salary Distribution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953512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953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job role attrition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3A674-753F-0AF5-DE5B-E6A833C1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230" y="0"/>
            <a:ext cx="3553988" cy="3066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19105A-B6B2-32E7-4C9F-050C5DB2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06" y="2624254"/>
            <a:ext cx="3920307" cy="2445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BCABA5-B896-7899-1EB5-11E395001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29" y="0"/>
            <a:ext cx="3914825" cy="23691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85E4C5-1243-D2C5-1326-9629ABA94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230" y="2881673"/>
            <a:ext cx="3737468" cy="213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07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Power BI Interactive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Visual Analytics &amp; Business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54864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7899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KPI Cards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4264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Total Employees, Attrition Count, Attrition Rate %, Avg 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975104"/>
            <a:ext cx="548640" cy="68580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97510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2688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Charts &amp; Visuals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3225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Bar: Dept Attrition | Pie: Gender split | Line: Tenure trend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871216"/>
            <a:ext cx="5486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7121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Slicers &amp; Filters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218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Filter by Department, Gender, Job Role, Age Group, OT Status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3767328"/>
            <a:ext cx="5486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7673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" y="3803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Drill-through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4114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Click on a department to drill into individual employee details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C7C1E-8AE1-7B38-C693-7C8A4E17F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816"/>
            <a:ext cx="9144000" cy="515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35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What the Data Reveals About Employee Attrition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0116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16.1%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" y="1673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Overall Attrition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1051560"/>
            <a:ext cx="2011680" cy="1097280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32304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Sales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32304" y="1673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Highest Attrition Dept.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051560"/>
            <a:ext cx="20116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2.5×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08576" y="1673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OT Employees Quit More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84848" y="1051560"/>
            <a:ext cx="2011680" cy="1097280"/>
          </a:xfrm>
          <a:prstGeom prst="rect">
            <a:avLst/>
          </a:prstGeom>
          <a:solidFill>
            <a:srgbClr val="0EA5D6"/>
          </a:solidFill>
          <a:ln w="12700">
            <a:solidFill>
              <a:srgbClr val="0EA5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26–35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84848" y="1673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Age Group Most At Risk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304288"/>
            <a:ext cx="420624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304288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9572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🏢 Sales Dept. Attrition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76148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Sales Representatives show the highest attrition (~40%). High targets and travel demands contribute to burnout.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304288"/>
            <a:ext cx="420624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304288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39572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⏰ Overtime Impact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276148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Employees working overtime are 2.5× more likely to leave, indicating workload imbalance is a critical issue.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566160"/>
            <a:ext cx="420624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566160"/>
            <a:ext cx="64008" cy="1097280"/>
          </a:xfrm>
          <a:prstGeom prst="rect">
            <a:avLst/>
          </a:prstGeom>
          <a:solidFill>
            <a:srgbClr val="0EA5D6"/>
          </a:solidFill>
          <a:ln w="12700">
            <a:solidFill>
              <a:srgbClr val="0EA5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📅 Age &amp; Experience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Employees aged 26–35 with &lt;3 years tenure leave most often. Early career disengagement is a key challenge.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566160"/>
            <a:ext cx="4206240" cy="109728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56616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65760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5A"/>
                </a:solidFill>
              </a:rPr>
              <a:t>💰 Salary Factor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4608" y="402336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Employees earning below ₹5,000/month show 3× higher attrition. Compensation directly impacts retention.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29260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D5A"/>
                </a:solidFill>
              </a:rPr>
              <a:t>Strategies to Reduce Attrition &amp; Improve Retention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2834640" cy="1645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33856"/>
            <a:ext cx="475488" cy="56692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338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11887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5A"/>
                </a:solidFill>
              </a:rPr>
              <a:t>Revise Compensation Packages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1792224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Benchmark salaries against industry standards. Introduce performance-linked bonuses and transparent pay bands to reduce income-driven attrition.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834640" cy="1645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78992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133856"/>
            <a:ext cx="475488" cy="56692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1338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30752" y="11887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5A"/>
                </a:solidFill>
              </a:rPr>
              <a:t>Regulate Overtime Policies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0128" y="1792224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Cap overtime hours and introduce comp-off policies. Automate workload distribution to prevent burnout in high-demand teams.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078992"/>
            <a:ext cx="2834640" cy="1645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078992"/>
            <a:ext cx="2834640" cy="54864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133856"/>
            <a:ext cx="475488" cy="56692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1338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02552" y="11887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5A"/>
                </a:solidFill>
              </a:rPr>
              <a:t>Strengthen Onboarding &amp; Mentoring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81928" y="1792224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Develop a 90-day structured onboarding programme with mentor assignment. Target employees in the 0–2 year tenure high-risk window.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889504"/>
            <a:ext cx="2834640" cy="1645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89504"/>
            <a:ext cx="28346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944368"/>
            <a:ext cx="475488" cy="56692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9443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8952" y="2999232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5A"/>
                </a:solidFill>
              </a:rPr>
              <a:t>Department-Level Retention Plans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" y="3602736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Create targeted retention initiatives for Sales. Address job role clarity, travel expectations, and career progression paths.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2889504"/>
            <a:ext cx="2834640" cy="1645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889504"/>
            <a:ext cx="2834640" cy="54864"/>
          </a:xfrm>
          <a:prstGeom prst="rect">
            <a:avLst/>
          </a:prstGeom>
          <a:solidFill>
            <a:srgbClr val="0EA5D6"/>
          </a:solidFill>
          <a:ln w="12700">
            <a:solidFill>
              <a:srgbClr val="0EA5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944368"/>
            <a:ext cx="475488" cy="56692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9443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30752" y="2999232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5A"/>
                </a:solidFill>
              </a:rPr>
              <a:t>Employee Engagement Surveys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10128" y="3602736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Run quarterly pulse surveys to track satisfaction. Use results to inform HR policy adjustments and management training.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2889504"/>
            <a:ext cx="2834640" cy="1645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2889504"/>
            <a:ext cx="2834640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944368"/>
            <a:ext cx="475488" cy="56692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29443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02552" y="2999232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D5A"/>
                </a:solidFill>
              </a:rPr>
              <a:t>Predictive Attrition Modelling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81928" y="3602736"/>
            <a:ext cx="2615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Deploy ML models (Logistic Regression / Random Forest) to flag at-risk employees for proactive HR interventions.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606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HR Attrition Analysis  |  Soham Sutar  |  March 2025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03920" y="49606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68680" y="1720596"/>
            <a:ext cx="4572000" cy="4572000"/>
          </a:xfrm>
          <a:prstGeom prst="ellipse">
            <a:avLst/>
          </a:prstGeom>
          <a:solidFill>
            <a:srgbClr val="1E4DB7">
              <a:alpha val="30000"/>
            </a:srgbClr>
          </a:solidFill>
          <a:ln w="12700">
            <a:solidFill>
              <a:srgbClr val="1E4DB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2EC4F3">
              <a:alpha val="25000"/>
            </a:srgbClr>
          </a:solidFill>
          <a:ln w="12700">
            <a:solidFill>
              <a:srgbClr val="2EC4F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EC4F3"/>
          </a:solidFill>
          <a:ln w="12700">
            <a:solidFill>
              <a:srgbClr val="2EC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A2D5A"/>
                </a:solidFill>
              </a:rPr>
              <a:t>PROJECT CONCLUSION  ·  HR ATTRITION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Summary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132332"/>
            <a:ext cx="38404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506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17957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FF"/>
                </a:solidFill>
              </a:rPr>
              <a:t>Cleaned and processed 1,470 employee records using Excel.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546860"/>
            <a:ext cx="38404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53619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FF"/>
                </a:solidFill>
              </a:rPr>
              <a:t>Executed SQL queries to extract attrition KPIs and department metrics.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1992630"/>
            <a:ext cx="38404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6774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191947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FF"/>
                </a:solidFill>
              </a:rPr>
              <a:t>Conducted EDA with Python (Pandas, Matplotlib) to uncover attrition patterns.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398014"/>
            <a:ext cx="38404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4226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31521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FF"/>
                </a:solidFill>
              </a:rPr>
              <a:t>Built an interactive Power BI dashboard for stakeholder reporting.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2811530"/>
            <a:ext cx="38404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8343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28140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FF"/>
                </a:solidFill>
              </a:rPr>
              <a:t>Identified key factors: overtime, salary, age, and department as primary drivers.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913632"/>
            <a:ext cx="7680960" cy="658368"/>
          </a:xfrm>
          <a:prstGeom prst="rect">
            <a:avLst/>
          </a:prstGeom>
          <a:solidFill>
            <a:srgbClr val="1E4DB7"/>
          </a:solidFill>
          <a:ln w="12700">
            <a:solidFill>
              <a:srgbClr val="1E4D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91363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8FF"/>
                </a:solidFill>
              </a:rPr>
              <a:t>HR Analytics empowers organisations to make proactive, data-driven decisions that reduce attrition, boost employee satisfaction, and drive business growth.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8CC"/>
                </a:solidFill>
              </a:rPr>
              <a:t>— Soham Sutar  |  Data Analyst  |  March 2025</a:t>
            </a:r>
            <a:endParaRPr lang="en-US" sz="9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7612AE-3452-CDEA-C534-0742C0936656}"/>
              </a:ext>
            </a:extLst>
          </p:cNvPr>
          <p:cNvSpPr txBox="1"/>
          <p:nvPr/>
        </p:nvSpPr>
        <p:spPr>
          <a:xfrm>
            <a:off x="822960" y="3370838"/>
            <a:ext cx="5288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highlight>
                  <a:srgbClr val="FFFF00"/>
                </a:highlight>
              </a:rPr>
              <a:t>Github</a:t>
            </a:r>
            <a:r>
              <a:rPr lang="en-US" dirty="0">
                <a:highlight>
                  <a:srgbClr val="FFFF00"/>
                </a:highlight>
              </a:rPr>
              <a:t> Link : https://github.com/sohamsutar07</a:t>
            </a:r>
            <a:endParaRPr lang="en-US" sz="18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1096</Words>
  <Application>Microsoft Office PowerPoint</Application>
  <PresentationFormat>On-screen Show (16:9)</PresentationFormat>
  <Paragraphs>172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</dc:title>
  <dc:subject>PptxGenJS Presentation</dc:subject>
  <dc:creator>Soham Sutar</dc:creator>
  <cp:lastModifiedBy>Soham Sutar</cp:lastModifiedBy>
  <cp:revision>2</cp:revision>
  <dcterms:created xsi:type="dcterms:W3CDTF">2026-03-17T19:29:06Z</dcterms:created>
  <dcterms:modified xsi:type="dcterms:W3CDTF">2026-03-19T16:45:44Z</dcterms:modified>
</cp:coreProperties>
</file>